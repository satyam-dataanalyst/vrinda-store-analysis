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3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4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4"/>
  </p:notesMasterIdLst>
  <p:sldIdLst>
    <p:sldId id="259" r:id="rId2"/>
    <p:sldId id="260" r:id="rId3"/>
    <p:sldId id="261" r:id="rId4"/>
    <p:sldId id="27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6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84" autoAdjust="0"/>
  </p:normalViewPr>
  <p:slideViewPr>
    <p:cSldViewPr snapToGrid="0">
      <p:cViewPr varScale="1">
        <p:scale>
          <a:sx n="62" d="100"/>
          <a:sy n="62" d="100"/>
        </p:scale>
        <p:origin x="1400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atya\Downloads\Vrinda%20Store%20Data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satya\Downloads\Vrinda%20Store%20Data%20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C:\Users\satya\Downloads\Vrinda%20Store%20Data%20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atya\Downloads\Vrinda%20Store%20Data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[Vrinda Store Data Analysis.xlsx]Sales-Men_Vs_Women!PivotTable2</c:name>
    <c:fmtId val="39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sans-serif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sans-serif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bg1"/>
                  </a:solidFill>
                  <a:latin typeface="sans-serif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180310008418761"/>
          <c:y val="0"/>
          <c:w val="0.69249829809046559"/>
          <c:h val="0.99148740981689898"/>
        </c:manualLayout>
      </c:layout>
      <c:pieChart>
        <c:varyColors val="1"/>
        <c:ser>
          <c:idx val="0"/>
          <c:order val="0"/>
          <c:tx>
            <c:strRef>
              <c:f>'Sales-Men_Vs_Women'!$B$3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B16-4B65-8604-628A12EC62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B16-4B65-8604-628A12EC62D7}"/>
              </c:ext>
            </c:extLst>
          </c:dPt>
          <c:dLbls>
            <c:dLbl>
              <c:idx val="1"/>
              <c:tx>
                <c:rich>
                  <a:bodyPr/>
                  <a:lstStyle/>
                  <a:p>
                    <a:fld id="{EC4629AF-4D0F-421B-9689-0F751789912A}" type="CATEGORYNAME">
                      <a:rPr lang="en-US"/>
                      <a:pPr/>
                      <a:t>[CATEGORY NAME]</a:t>
                    </a:fld>
                    <a:r>
                      <a:rPr lang="en-US" baseline="0" dirty="0"/>
                      <a:t>
</a:t>
                    </a:r>
                    <a:fld id="{243F084A-100C-464F-951E-80493D9AD86E}" type="PERCENTAGE">
                      <a:rPr lang="en-US" baseline="0">
                        <a:latin typeface="sans-serif"/>
                      </a:rPr>
                      <a:pPr/>
                      <a:t>[PERCENTAGE]</a:t>
                    </a:fld>
                    <a:endParaRPr lang="en-US" baseline="0" dirty="0"/>
                  </a:p>
                </c:rich>
              </c:tx>
              <c:dLblPos val="ctr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B16-4B65-8604-628A12EC62D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sans-serif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'Sales-Men_Vs_Women'!$A$4:$A$5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'Sales-Men_Vs_Women'!$B$4:$B$5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16-4B65-8604-628A12EC6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 b="1">
          <a:solidFill>
            <a:schemeClr val="bg1"/>
          </a:solidFill>
          <a:latin typeface="sans-serif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[Vrinda Store Data Analysis.xlsx]Top 5 States!PivotTable4</c:name>
    <c:fmtId val="2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0.0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372090988626424"/>
          <c:y val="0.16708333333333336"/>
          <c:w val="0.72566097987751532"/>
          <c:h val="0.720887649460484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'Top 5 States'!$B$3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ans-serif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'Top 5 States'!$A$4:$A$8</c:f>
              <c:strCache>
                <c:ptCount val="5"/>
                <c:pt idx="0">
                  <c:v>MAHARASHTRA</c:v>
                </c:pt>
                <c:pt idx="1">
                  <c:v>KARNATAKA</c:v>
                </c:pt>
                <c:pt idx="2">
                  <c:v>UTTAR PRADESH</c:v>
                </c:pt>
                <c:pt idx="3">
                  <c:v>TELANGANA</c:v>
                </c:pt>
                <c:pt idx="4">
                  <c:v>TAMIL NADU</c:v>
                </c:pt>
              </c:strCache>
            </c:strRef>
          </c:cat>
          <c:val>
            <c:numRef>
              <c:f>'Top 5 States'!$B$4:$B$8</c:f>
              <c:numCache>
                <c:formatCode>General</c:formatCode>
                <c:ptCount val="5"/>
                <c:pt idx="0">
                  <c:v>2990221</c:v>
                </c:pt>
                <c:pt idx="1">
                  <c:v>2646358</c:v>
                </c:pt>
                <c:pt idx="2">
                  <c:v>2104659</c:v>
                </c:pt>
                <c:pt idx="3">
                  <c:v>1712439</c:v>
                </c:pt>
                <c:pt idx="4">
                  <c:v>1678877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AE-4F11-876E-F7B975436B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65434448"/>
        <c:axId val="187518144"/>
      </c:barChart>
      <c:catAx>
        <c:axId val="3654344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s-serif"/>
                <a:ea typeface="+mn-ea"/>
                <a:cs typeface="+mn-cs"/>
              </a:defRPr>
            </a:pPr>
            <a:endParaRPr lang="en-US"/>
          </a:p>
        </c:txPr>
        <c:crossAx val="187518144"/>
        <c:crosses val="autoZero"/>
        <c:auto val="1"/>
        <c:lblAlgn val="ctr"/>
        <c:lblOffset val="100"/>
        <c:noMultiLvlLbl val="0"/>
      </c:catAx>
      <c:valAx>
        <c:axId val="187518144"/>
        <c:scaling>
          <c:orientation val="minMax"/>
        </c:scaling>
        <c:delete val="0"/>
        <c:axPos val="b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s-serif"/>
                <a:ea typeface="+mn-ea"/>
                <a:cs typeface="+mn-cs"/>
              </a:defRPr>
            </a:pPr>
            <a:endParaRPr lang="en-US"/>
          </a:p>
        </c:txPr>
        <c:crossAx val="36543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50" b="0">
          <a:latin typeface="sans-serif"/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[Vrinda Store Data Analysis.xlsx]Channels!PivotTable6</c:name>
    <c:fmtId val="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23495473430541E-2"/>
              <c:y val="2.172059270063809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1542233446805049E-5"/>
              <c:y val="3.3669254289122852E-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6973998507357358E-2"/>
              <c:y val="-2.4497606710899962E-17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1542233446805049E-5"/>
              <c:y val="3.3669254289122852E-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23495473430541E-2"/>
              <c:y val="2.172059270063809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6973998507357358E-2"/>
              <c:y val="-2.4497606710899962E-17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3.1542233446805049E-5"/>
              <c:y val="3.3669254289122852E-5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1.3823495473430541E-2"/>
              <c:y val="2.1720592700638093E-2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6973998507357358E-2"/>
              <c:y val="-2.4497606710899962E-17"/>
            </c:manualLayout>
          </c:layout>
          <c:spPr>
            <a:solidFill>
              <a:sysClr val="window" lastClr="FFFFFF"/>
            </a:solidFill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9.862973805107289E-2"/>
          <c:y val="0"/>
          <c:w val="0.52850573532681533"/>
          <c:h val="1"/>
        </c:manualLayout>
      </c:layout>
      <c:pieChart>
        <c:varyColors val="1"/>
        <c:ser>
          <c:idx val="0"/>
          <c:order val="0"/>
          <c:tx>
            <c:strRef>
              <c:f>Channels!$B$3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09-4A0D-B0ED-2322E9F706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09-4A0D-B0ED-2322E9F7065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09-4A0D-B0ED-2322E9F7065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09-4A0D-B0ED-2322E9F70652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109-4A0D-B0ED-2322E9F70652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109-4A0D-B0ED-2322E9F70652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109-4A0D-B0ED-2322E9F706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sans-serif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Channels!$A$4:$A$10</c:f>
              <c:strCache>
                <c:ptCount val="7"/>
                <c:pt idx="0">
                  <c:v>Ajio</c:v>
                </c:pt>
                <c:pt idx="1">
                  <c:v>Amazon</c:v>
                </c:pt>
                <c:pt idx="2">
                  <c:v>Flipkart</c:v>
                </c:pt>
                <c:pt idx="3">
                  <c:v>Meesho</c:v>
                </c:pt>
                <c:pt idx="4">
                  <c:v>Myntra</c:v>
                </c:pt>
                <c:pt idx="5">
                  <c:v>Nalli</c:v>
                </c:pt>
                <c:pt idx="6">
                  <c:v>Others</c:v>
                </c:pt>
              </c:strCache>
            </c:strRef>
          </c:cat>
          <c:val>
            <c:numRef>
              <c:f>Channels!$B$4:$B$10</c:f>
              <c:numCache>
                <c:formatCode>0.0%</c:formatCode>
                <c:ptCount val="7"/>
                <c:pt idx="0">
                  <c:v>6.2196025380874161E-2</c:v>
                </c:pt>
                <c:pt idx="1">
                  <c:v>0.35481689052082327</c:v>
                </c:pt>
                <c:pt idx="2">
                  <c:v>0.21589847650336585</c:v>
                </c:pt>
                <c:pt idx="3">
                  <c:v>4.5028505169581602E-2</c:v>
                </c:pt>
                <c:pt idx="4">
                  <c:v>0.23364576287564015</c:v>
                </c:pt>
                <c:pt idx="5">
                  <c:v>4.7798499049827678E-2</c:v>
                </c:pt>
                <c:pt idx="6">
                  <c:v>4.0615840499887271E-2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109-4A0D-B0ED-2322E9F70652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[Vrinda Store Data Analysis.xlsx]Order Status!PivotTable3</c:name>
    <c:fmtId val="11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5401949423462133E-2"/>
              <c:y val="4.44461942257217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3336018112239787"/>
                  <c:h val="0.14789711286089238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6593089187125205E-2"/>
              <c:y val="0.12759265091863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277994830798816"/>
                  <c:h val="0.14789711286089238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42862294884885E-2"/>
              <c:y val="5.3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956378353469175"/>
                  <c:h val="0.14789711286089238"/>
                </c:manualLayout>
              </c15:layout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8829516539440203"/>
              <c:y val="-0.0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6593089187125205E-2"/>
              <c:y val="0.12759265091863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277994830798816"/>
                  <c:h val="0.14789711286089238"/>
                </c:manualLayout>
              </c15:layout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8829516539440203"/>
              <c:y val="-0.0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5401949423462133E-2"/>
              <c:y val="4.44461942257217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3336018112239787"/>
                  <c:h val="0.14789711286089238"/>
                </c:manualLayout>
              </c15:layout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42862294884885E-2"/>
              <c:y val="5.3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956378353469175"/>
                  <c:h val="0.14789711286089238"/>
                </c:manualLayout>
              </c15:layout>
            </c:ext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6593089187125205E-2"/>
              <c:y val="0.127592650918635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277994830798816"/>
                  <c:h val="0.14789711286089238"/>
                </c:manualLayout>
              </c15:layout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8829516539440203"/>
              <c:y val="-0.0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2.5401949423462133E-2"/>
              <c:y val="4.4446194225721781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3336018112239787"/>
                  <c:h val="0.14789711286089238"/>
                </c:manualLayout>
              </c15:layout>
            </c:ext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2.742862294884885E-2"/>
              <c:y val="5.333333333333333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overflow" horzOverflow="overflow" vert="horz" wrap="square" lIns="0" tIns="0" rIns="0" bIns="0" anchor="t" anchorCtr="0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956378353469175"/>
                  <c:h val="0.14789711286089238"/>
                </c:manualLayout>
              </c15:layout>
            </c:ext>
          </c:extLst>
        </c:dLbl>
      </c:pivotFmt>
    </c:pivotFmts>
    <c:plotArea>
      <c:layout>
        <c:manualLayout>
          <c:layoutTarget val="inner"/>
          <c:xMode val="edge"/>
          <c:yMode val="edge"/>
          <c:x val="2.9041293502434333E-2"/>
          <c:y val="0.18097222222222226"/>
          <c:w val="0.61551802207930117"/>
          <c:h val="0.7803180086360173"/>
        </c:manualLayout>
      </c:layout>
      <c:pieChart>
        <c:varyColors val="1"/>
        <c:ser>
          <c:idx val="0"/>
          <c:order val="0"/>
          <c:tx>
            <c:strRef>
              <c:f>'Order Status'!$B$3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explosion val="31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F3D-4368-99FE-00DFDE5C3E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F3D-4368-99FE-00DFDE5C3E07}"/>
              </c:ext>
            </c:extLst>
          </c:dPt>
          <c:dPt>
            <c:idx val="2"/>
            <c:bubble3D val="0"/>
            <c:explosion val="48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F3D-4368-99FE-00DFDE5C3E07}"/>
              </c:ext>
            </c:extLst>
          </c:dPt>
          <c:dPt>
            <c:idx val="3"/>
            <c:bubble3D val="0"/>
            <c:explosion val="29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F3D-4368-99FE-00DFDE5C3E07}"/>
              </c:ext>
            </c:extLst>
          </c:dPt>
          <c:dLbls>
            <c:dLbl>
              <c:idx val="0"/>
              <c:layout>
                <c:manualLayout>
                  <c:x val="-2.6593089187125205E-2"/>
                  <c:y val="0.12759265091863517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277994830798816"/>
                      <c:h val="0.147897112860892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F3D-4368-99FE-00DFDE5C3E07}"/>
                </c:ext>
              </c:extLst>
            </c:dLbl>
            <c:dLbl>
              <c:idx val="1"/>
              <c:layout>
                <c:manualLayout>
                  <c:x val="0.18829516539440203"/>
                  <c:y val="-0.06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3D-4368-99FE-00DFDE5C3E07}"/>
                </c:ext>
              </c:extLst>
            </c:dLbl>
            <c:dLbl>
              <c:idx val="2"/>
              <c:layout>
                <c:manualLayout>
                  <c:x val="-2.5401949423462133E-2"/>
                  <c:y val="4.4446194225721781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36018112239787"/>
                      <c:h val="0.147897112860892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F3D-4368-99FE-00DFDE5C3E07}"/>
                </c:ext>
              </c:extLst>
            </c:dLbl>
            <c:dLbl>
              <c:idx val="3"/>
              <c:layout>
                <c:manualLayout>
                  <c:x val="2.742862294884885E-2"/>
                  <c:y val="5.3333333333333337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56378353469175"/>
                      <c:h val="0.1478971128608923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F3D-4368-99FE-00DFDE5C3E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t" anchorCtr="0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sans-serif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'Order 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'Order Status'!$B$4:$B$7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3D-4368-99FE-00DFDE5C3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8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B5E3D-AD42-498E-966D-77D88F1A46C9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D1EE69-76B7-4099-8BA8-4F0EFCDABF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844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EE69-76B7-4099-8BA8-4F0EFCDABF6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45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D1EE69-76B7-4099-8BA8-4F0EFCDABF6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437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51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823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60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7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768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47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11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14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71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06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27024-BF31-419F-A746-13644E25B574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57893-1B18-4196-A86D-C08D784FB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45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freepngimg.com/png/48755-earnings-png-download-fre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sweep-icon-vector-drawing" TargetMode="External"/><Relationship Id="rId7" Type="http://schemas.openxmlformats.org/officeDocument/2006/relationships/hyperlink" Target="https://www.pngall.com/investigation-png/download/4360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www.dreamstime.com/database-server-storage-icon-modern-simple-flat-vector-illustration-web-site-mobile-app-symbol-image145499858" TargetMode="Externa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5218-4BCD-466D-B55A-31CC11729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7070" y="1923836"/>
            <a:ext cx="7489860" cy="1099334"/>
          </a:xfrm>
          <a:solidFill>
            <a:schemeClr val="bg1"/>
          </a:solidFill>
        </p:spPr>
        <p:txBody>
          <a:bodyPr anchor="t">
            <a:normAutofit fontScale="90000"/>
          </a:bodyPr>
          <a:lstStyle/>
          <a:p>
            <a:r>
              <a:rPr lang="en-US" sz="49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Driving 2023 Growth:</a:t>
            </a:r>
            <a:br>
              <a:rPr lang="en-US" sz="36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 sz="2700" b="1" dirty="0">
                <a:latin typeface="sans-serif"/>
              </a:rPr>
              <a:t>INSIGHTS FROM THE VRINDA STORE 2022 SALES ANALYSIS</a:t>
            </a:r>
            <a:endParaRPr lang="en-IN" sz="2700" dirty="0">
              <a:latin typeface="sans-serif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613CD-CD62-4737-85A3-EFCDF49B4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6117" y="3699279"/>
            <a:ext cx="6811766" cy="40011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sans-serif"/>
              </a:rPr>
              <a:t>A Data-Driven Strategy for Optimizing E-commerce Performance</a:t>
            </a:r>
            <a:endParaRPr lang="en-IN" sz="2000" dirty="0">
              <a:latin typeface="sans-serif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E1742-64F1-4F65-89C8-7562CEC78133}"/>
              </a:ext>
            </a:extLst>
          </p:cNvPr>
          <p:cNvSpPr txBox="1"/>
          <p:nvPr/>
        </p:nvSpPr>
        <p:spPr>
          <a:xfrm>
            <a:off x="7367589" y="6457890"/>
            <a:ext cx="177641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00" b="1" dirty="0">
                <a:latin typeface="sans-serif"/>
              </a:rPr>
              <a:t>Presented By – Satyam Gupta</a:t>
            </a:r>
            <a:br>
              <a:rPr lang="en-US" sz="1000" b="1" dirty="0">
                <a:latin typeface="sans-serif"/>
              </a:rPr>
            </a:br>
            <a:r>
              <a:rPr lang="en-US" sz="1000" b="1" dirty="0">
                <a:latin typeface="sans-serif"/>
              </a:rPr>
              <a:t>December 10, 2025</a:t>
            </a:r>
            <a:endParaRPr lang="en-IN" sz="1000" b="1" dirty="0">
              <a:latin typeface="sans-seri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5E3E32-A621-4355-ACE8-70D9EB255B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146" t="32995" r="23971" b="38209"/>
          <a:stretch/>
        </p:blipFill>
        <p:spPr>
          <a:xfrm>
            <a:off x="102740" y="92467"/>
            <a:ext cx="1438382" cy="65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89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FB2DD-74F3-4D13-80BD-BAFD08977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78028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sans-serif"/>
              </a:rPr>
              <a:t>Executive Summary – </a:t>
            </a:r>
            <a:r>
              <a:rPr lang="en-US" sz="3200" b="1" dirty="0" err="1">
                <a:latin typeface="sans-serif"/>
              </a:rPr>
              <a:t>Vrinda</a:t>
            </a:r>
            <a:r>
              <a:rPr lang="en-US" sz="3200" b="1" dirty="0">
                <a:latin typeface="sans-serif"/>
              </a:rPr>
              <a:t> Store Analysis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C098-E14F-44A1-BA56-3C36DBAA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87" y="876347"/>
            <a:ext cx="3634132" cy="2143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sans-serif"/>
              </a:rPr>
              <a:t>Project Goal</a:t>
            </a:r>
          </a:p>
          <a:p>
            <a:pPr marL="0" indent="0" algn="just">
              <a:spcBef>
                <a:spcPts val="0"/>
              </a:spcBef>
              <a:buNone/>
            </a:pPr>
            <a:br>
              <a:rPr lang="en-IN" sz="400" b="1" dirty="0"/>
            </a:br>
            <a:r>
              <a:rPr lang="en-US" sz="2000" dirty="0">
                <a:latin typeface="sans-serif"/>
              </a:rPr>
              <a:t>Uncover actionable insights from </a:t>
            </a:r>
            <a:r>
              <a:rPr lang="en-US" sz="2000" dirty="0" err="1">
                <a:latin typeface="sans-serif"/>
              </a:rPr>
              <a:t>Vrinda</a:t>
            </a:r>
            <a:r>
              <a:rPr lang="en-US" sz="2000" dirty="0">
                <a:latin typeface="sans-serif"/>
              </a:rPr>
              <a:t> Store’s 2022 sales data to guide inventory, marketing, and regional strategy.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1C412-A5AE-4786-847E-D2FAD745165B}"/>
              </a:ext>
            </a:extLst>
          </p:cNvPr>
          <p:cNvSpPr txBox="1"/>
          <p:nvPr/>
        </p:nvSpPr>
        <p:spPr>
          <a:xfrm>
            <a:off x="6256961" y="3977537"/>
            <a:ext cx="2800406" cy="228370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2400" b="1" dirty="0">
                <a:latin typeface="sans-serif"/>
              </a:rPr>
              <a:t>Potential Impact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sans-serif"/>
              </a:rPr>
              <a:t>Projected 15–20% revenue growth through targeted inventory, regional campaigns, and seasonal alignment.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809D5-DC97-4698-B39D-E4438E7954A6}"/>
              </a:ext>
            </a:extLst>
          </p:cNvPr>
          <p:cNvSpPr txBox="1"/>
          <p:nvPr/>
        </p:nvSpPr>
        <p:spPr>
          <a:xfrm>
            <a:off x="1520575" y="3085322"/>
            <a:ext cx="4317519" cy="284693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>
                <a:latin typeface="sans-serif"/>
              </a:rPr>
              <a:t>Key Findings </a:t>
            </a:r>
            <a:br>
              <a:rPr lang="en-US" sz="2400" b="1" dirty="0">
                <a:latin typeface="sans-serif"/>
              </a:rPr>
            </a:br>
            <a:endParaRPr lang="en-US" sz="500" b="1" dirty="0">
              <a:latin typeface="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64% of total sales come from female customers.</a:t>
            </a:r>
            <a:br>
              <a:rPr lang="en-US" sz="2000" dirty="0">
                <a:latin typeface="sans-serif"/>
              </a:rPr>
            </a:br>
            <a:endParaRPr lang="en-US" sz="500" dirty="0">
              <a:latin typeface="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March &amp; festive months show peak demand.</a:t>
            </a:r>
            <a:br>
              <a:rPr lang="en-US" sz="2000" dirty="0">
                <a:latin typeface="sans-serif"/>
              </a:rPr>
            </a:br>
            <a:endParaRPr lang="en-US" sz="500" dirty="0">
              <a:latin typeface="sans-serif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Top 5 States Contribute ~50% of Revenue Maharashtra, Karnataka, Uttar Pradesh, Telangana and UP.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838025-83B9-4C31-BCFC-1D60A58F4D99}"/>
              </a:ext>
            </a:extLst>
          </p:cNvPr>
          <p:cNvCxnSpPr>
            <a:cxnSpLocks/>
          </p:cNvCxnSpPr>
          <p:nvPr/>
        </p:nvCxnSpPr>
        <p:spPr>
          <a:xfrm>
            <a:off x="3563187" y="3354670"/>
            <a:ext cx="31071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DF83B75-4560-4A18-B3C4-31E12014FCB1}"/>
              </a:ext>
            </a:extLst>
          </p:cNvPr>
          <p:cNvSpPr txBox="1"/>
          <p:nvPr/>
        </p:nvSpPr>
        <p:spPr>
          <a:xfrm>
            <a:off x="4489807" y="837399"/>
            <a:ext cx="424030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sans-serif"/>
              </a:rPr>
              <a:t>Main Recommendations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Prioritize women-centric Inventory.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Boost stock &amp; promotions in March and Festive months.</a:t>
            </a:r>
          </a:p>
          <a:p>
            <a:pPr marL="285750" indent="-28575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ans-serif"/>
              </a:rPr>
              <a:t>Focus Marketing in High-Performing States.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D3123-5953-45BB-A9AC-A16361516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174" y="2920938"/>
            <a:ext cx="1101522" cy="852826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485941-7019-4293-B2A8-CDCC0280B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7" y="3188062"/>
            <a:ext cx="955211" cy="86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6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8171-2C04-417D-8201-9AA097AB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742" y="0"/>
            <a:ext cx="5454516" cy="55889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sans-serif"/>
              </a:rPr>
              <a:t>Business Problem &amp; Objectives</a:t>
            </a:r>
            <a:endParaRPr lang="en-IN" sz="3200" b="1" dirty="0">
              <a:latin typeface="sans-serif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B0FA-C9DB-4991-92F4-95C062909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498" y="976907"/>
            <a:ext cx="3492970" cy="526501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sans-serif"/>
              </a:rPr>
              <a:t>BUSINESS PROBLEM</a:t>
            </a:r>
            <a:endParaRPr lang="en-US" sz="240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marL="0" indent="0" algn="just">
              <a:spcBef>
                <a:spcPts val="0"/>
              </a:spcBef>
              <a:buNone/>
            </a:pPr>
            <a:b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</a:br>
            <a:r>
              <a:rPr lang="en-US" sz="1950" dirty="0" err="1">
                <a:latin typeface="sans-serif"/>
              </a:rPr>
              <a:t>Vrinda</a:t>
            </a:r>
            <a:r>
              <a:rPr lang="en-US" sz="1950" dirty="0">
                <a:latin typeface="sans-serif"/>
              </a:rPr>
              <a:t> Store’s 2022 sales data </a:t>
            </a:r>
            <a:r>
              <a:rPr lang="en-US" sz="1950" dirty="0" err="1">
                <a:latin typeface="sans-serif"/>
              </a:rPr>
              <a:t>hights</a:t>
            </a:r>
            <a:r>
              <a:rPr lang="en-US" sz="1950" dirty="0">
                <a:latin typeface="sans-serif"/>
              </a:rPr>
              <a:t> strong performance in certain states and platforms, but gaps remain in understanding: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95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Which customer segments drive profitability</a:t>
            </a:r>
          </a:p>
          <a:p>
            <a:pPr algn="just"/>
            <a:r>
              <a:rPr lang="en-US" sz="1950" dirty="0">
                <a:latin typeface="sans-serif"/>
              </a:rPr>
              <a:t>How seasonal trends affect orders and revenue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95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</a:br>
            <a:r>
              <a:rPr lang="en-US" sz="195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  <a:t>Key Challenges:</a:t>
            </a:r>
            <a:r>
              <a:rPr lang="en-US" sz="1950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  <a:t> </a:t>
            </a:r>
            <a:r>
              <a:rPr lang="en-US" sz="1950" dirty="0">
                <a:solidFill>
                  <a:schemeClr val="accent5"/>
                </a:solidFill>
                <a:latin typeface="sans-serif"/>
              </a:rPr>
              <a:t>Which customer segments, regions, and channels drive profitability — and where are we losing traction?</a:t>
            </a:r>
            <a:endParaRPr lang="en-IN" sz="1950" dirty="0">
              <a:solidFill>
                <a:schemeClr val="accent5"/>
              </a:solidFill>
              <a:latin typeface="sans-serif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7A927C-1DC2-4018-A456-7A1CEEB78B01}"/>
              </a:ext>
            </a:extLst>
          </p:cNvPr>
          <p:cNvSpPr txBox="1">
            <a:spLocks/>
          </p:cNvSpPr>
          <p:nvPr/>
        </p:nvSpPr>
        <p:spPr>
          <a:xfrm>
            <a:off x="4849644" y="1006126"/>
            <a:ext cx="4052234" cy="36882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sans-serif"/>
              </a:rPr>
              <a:t>OBJECTIVES OF THE ANALYSIS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10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Identify top-performing states and underutilized regions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Analyze gender and age-based purchasing behavior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Compare monthly trends in orders vs revenue to spot seasonal patterns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Evaluate sales channel effectiveness (Amazon vs </a:t>
            </a:r>
            <a:r>
              <a:rPr lang="en-US" sz="1950" dirty="0" err="1">
                <a:latin typeface="sans-serif"/>
              </a:rPr>
              <a:t>Meesho</a:t>
            </a:r>
            <a:r>
              <a:rPr lang="en-US" sz="1950" dirty="0">
                <a:latin typeface="sans-serif"/>
              </a:rPr>
              <a:t>, etc.)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Recommend strategies to improve targeting and boost sales in 2023.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>
              <a:latin typeface="sans-serif"/>
            </a:endParaRP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sans-serif"/>
              </a:rPr>
              <a:t>STAKEHOLDER FOCUS</a:t>
            </a:r>
            <a:endParaRPr lang="en-US" sz="2400" dirty="0">
              <a:latin typeface="sans-serif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0340A-25E7-441E-A9BF-F6F59A5CCA65}"/>
              </a:ext>
            </a:extLst>
          </p:cNvPr>
          <p:cNvSpPr txBox="1"/>
          <p:nvPr/>
        </p:nvSpPr>
        <p:spPr>
          <a:xfrm>
            <a:off x="5802847" y="4663921"/>
            <a:ext cx="282138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ans-serif"/>
              </a:rPr>
              <a:t>Management</a:t>
            </a:r>
            <a:br>
              <a:rPr lang="en-US" dirty="0">
                <a:latin typeface="sans-serif"/>
              </a:rPr>
            </a:br>
            <a:r>
              <a:rPr lang="en-US" dirty="0">
                <a:latin typeface="sans-serif"/>
              </a:rPr>
              <a:t>clarity on revenue drivers</a:t>
            </a:r>
            <a:endParaRPr lang="en-IN" dirty="0">
              <a:latin typeface="sans-serif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5D081-1861-4B1E-B886-0E053B421362}"/>
              </a:ext>
            </a:extLst>
          </p:cNvPr>
          <p:cNvSpPr txBox="1"/>
          <p:nvPr/>
        </p:nvSpPr>
        <p:spPr>
          <a:xfrm>
            <a:off x="4976259" y="5414389"/>
            <a:ext cx="267913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sans-serif"/>
              </a:rPr>
              <a:t>Sales Team</a:t>
            </a:r>
            <a:br>
              <a:rPr lang="en-US" dirty="0">
                <a:latin typeface="sans-serif"/>
              </a:rPr>
            </a:br>
            <a:r>
              <a:rPr lang="en-US" dirty="0">
                <a:latin typeface="sans-serif"/>
              </a:rPr>
              <a:t>target profitable customer segments based on trends</a:t>
            </a:r>
            <a:endParaRPr lang="en-IN" dirty="0">
              <a:latin typeface="sans-serif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EF0791-64D8-4DC5-9D18-3FACA27B3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22130" y="5515382"/>
            <a:ext cx="646503" cy="723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B419A7-0E13-4DB6-BA72-F211FFF4F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21" y="603601"/>
            <a:ext cx="840407" cy="84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07691-F19C-4E0A-B537-7D9CB157B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316" y="4778534"/>
            <a:ext cx="551665" cy="55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3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8171-2C04-417D-8201-9AA097AB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742" y="0"/>
            <a:ext cx="5454516" cy="55889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sans-serif"/>
              </a:rPr>
              <a:t>Business Problem &amp; Objectives</a:t>
            </a:r>
            <a:endParaRPr lang="en-IN" sz="3200" b="1" dirty="0">
              <a:latin typeface="sans-serif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6B0FA-C9DB-4991-92F4-95C062909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676" y="989381"/>
            <a:ext cx="3524034" cy="429153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dirty="0">
                <a:latin typeface="sans-serif"/>
              </a:rPr>
              <a:t>BUSINESS PROBLEM</a:t>
            </a:r>
            <a:endParaRPr lang="en-US" sz="240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marL="0" indent="0">
              <a:spcBef>
                <a:spcPts val="0"/>
              </a:spcBef>
              <a:buNone/>
            </a:pPr>
            <a:br>
              <a:rPr lang="en-US" sz="50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</a:br>
            <a:r>
              <a:rPr lang="en-US" sz="1950" dirty="0" err="1">
                <a:latin typeface="sans-serif"/>
              </a:rPr>
              <a:t>Vrinda</a:t>
            </a:r>
            <a:r>
              <a:rPr lang="en-US" sz="1950" dirty="0">
                <a:latin typeface="sans-serif"/>
              </a:rPr>
              <a:t> Store’s 2022 sales data </a:t>
            </a:r>
            <a:r>
              <a:rPr lang="en-US" sz="1950" dirty="0" err="1">
                <a:latin typeface="sans-serif"/>
              </a:rPr>
              <a:t>hights</a:t>
            </a:r>
            <a:r>
              <a:rPr lang="en-US" sz="1950" dirty="0">
                <a:latin typeface="sans-serif"/>
              </a:rPr>
              <a:t> strong performance in certain states and platforms, but gaps remain in understanding: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Which customer segments drive profitability</a:t>
            </a:r>
          </a:p>
          <a:p>
            <a:pPr algn="just"/>
            <a:r>
              <a:rPr lang="en-US" sz="1950" dirty="0">
                <a:latin typeface="sans-serif"/>
              </a:rPr>
              <a:t>How seasonal trends affect orders and revenue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</a:br>
            <a:r>
              <a:rPr lang="en-US" sz="1950" b="1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  <a:t>Key Challenges:</a:t>
            </a:r>
            <a:r>
              <a:rPr lang="en-US" sz="1950" dirty="0">
                <a:solidFill>
                  <a:schemeClr val="accent5">
                    <a:lumMod val="75000"/>
                  </a:schemeClr>
                </a:solidFill>
                <a:latin typeface="sans-serif"/>
              </a:rPr>
              <a:t> </a:t>
            </a:r>
            <a:r>
              <a:rPr lang="en-US" sz="1950" dirty="0">
                <a:solidFill>
                  <a:schemeClr val="accent5"/>
                </a:solidFill>
                <a:latin typeface="sans-serif"/>
              </a:rPr>
              <a:t>Which customer segments, regions, and channels drive profitability — and where are we losing traction?</a:t>
            </a:r>
            <a:endParaRPr lang="en-IN" sz="1950" dirty="0">
              <a:solidFill>
                <a:schemeClr val="accent5"/>
              </a:solidFill>
              <a:latin typeface="sans-serif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7A927C-1DC2-4018-A456-7A1CEEB78B01}"/>
              </a:ext>
            </a:extLst>
          </p:cNvPr>
          <p:cNvSpPr txBox="1">
            <a:spLocks/>
          </p:cNvSpPr>
          <p:nvPr/>
        </p:nvSpPr>
        <p:spPr>
          <a:xfrm>
            <a:off x="4849644" y="1006126"/>
            <a:ext cx="4052234" cy="3688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>
                <a:latin typeface="sans-serif"/>
              </a:rPr>
              <a:t>OBJECTIVES OF THE ANALYSIS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500" b="1" dirty="0">
              <a:solidFill>
                <a:schemeClr val="accent5">
                  <a:lumMod val="75000"/>
                </a:schemeClr>
              </a:solidFill>
              <a:latin typeface="sans-serif"/>
            </a:endParaRP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Identify top-performing states and underutilized regions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Analyze gender and age-based purchasing behavior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Compare monthly trends in orders vs revenue to spot seasonal patterns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Evaluate sales channel effectiveness (Amazon vs </a:t>
            </a:r>
            <a:r>
              <a:rPr lang="en-US" sz="1950" dirty="0" err="1">
                <a:latin typeface="sans-serif"/>
              </a:rPr>
              <a:t>Meesho</a:t>
            </a:r>
            <a:r>
              <a:rPr lang="en-US" sz="1950" dirty="0">
                <a:latin typeface="sans-serif"/>
              </a:rPr>
              <a:t>, etc.)</a:t>
            </a:r>
          </a:p>
          <a:p>
            <a:pPr algn="just">
              <a:spcBef>
                <a:spcPts val="0"/>
              </a:spcBef>
            </a:pPr>
            <a:r>
              <a:rPr lang="en-US" sz="1950" dirty="0">
                <a:latin typeface="sans-serif"/>
              </a:rPr>
              <a:t>Recommend strategies to improve targeting and boost sales in 2023.</a:t>
            </a:r>
          </a:p>
          <a:p>
            <a:pPr marL="0" indent="0" algn="just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>
              <a:latin typeface="sans-serif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0340A-25E7-441E-A9BF-F6F59A5CCA65}"/>
              </a:ext>
            </a:extLst>
          </p:cNvPr>
          <p:cNvSpPr txBox="1"/>
          <p:nvPr/>
        </p:nvSpPr>
        <p:spPr>
          <a:xfrm>
            <a:off x="5813121" y="4731201"/>
            <a:ext cx="2821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>
                <a:latin typeface="sans-serif"/>
              </a:rPr>
            </a:br>
            <a:endParaRPr lang="en-IN" dirty="0">
              <a:latin typeface="sans-serif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5D081-1861-4B1E-B886-0E053B421362}"/>
              </a:ext>
            </a:extLst>
          </p:cNvPr>
          <p:cNvSpPr txBox="1"/>
          <p:nvPr/>
        </p:nvSpPr>
        <p:spPr>
          <a:xfrm>
            <a:off x="4894649" y="5414389"/>
            <a:ext cx="2679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>
                <a:latin typeface="sans-serif"/>
              </a:rPr>
            </a:br>
            <a:endParaRPr lang="en-IN" dirty="0">
              <a:latin typeface="sans-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419A7-0E13-4DB6-BA72-F211FFF4F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21" y="603601"/>
            <a:ext cx="840407" cy="84040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6901FF-FA1B-4805-945C-4FCD649BF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340309"/>
              </p:ext>
            </p:extLst>
          </p:nvPr>
        </p:nvGraphicFramePr>
        <p:xfrm>
          <a:off x="5103945" y="4561604"/>
          <a:ext cx="3639364" cy="205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269">
                  <a:extLst>
                    <a:ext uri="{9D8B030D-6E8A-4147-A177-3AD203B41FA5}">
                      <a16:colId xmlns:a16="http://schemas.microsoft.com/office/drawing/2014/main" val="1578420223"/>
                    </a:ext>
                  </a:extLst>
                </a:gridCol>
                <a:gridCol w="1669661">
                  <a:extLst>
                    <a:ext uri="{9D8B030D-6E8A-4147-A177-3AD203B41FA5}">
                      <a16:colId xmlns:a16="http://schemas.microsoft.com/office/drawing/2014/main" val="275314134"/>
                    </a:ext>
                  </a:extLst>
                </a:gridCol>
                <a:gridCol w="488735">
                  <a:extLst>
                    <a:ext uri="{9D8B030D-6E8A-4147-A177-3AD203B41FA5}">
                      <a16:colId xmlns:a16="http://schemas.microsoft.com/office/drawing/2014/main" val="607107122"/>
                    </a:ext>
                  </a:extLst>
                </a:gridCol>
                <a:gridCol w="430699">
                  <a:extLst>
                    <a:ext uri="{9D8B030D-6E8A-4147-A177-3AD203B41FA5}">
                      <a16:colId xmlns:a16="http://schemas.microsoft.com/office/drawing/2014/main" val="316112883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sans-serif"/>
                        </a:rPr>
                        <a:t>STAKEHOLDER FOCUS</a:t>
                      </a:r>
                      <a:endParaRPr lang="en-US" sz="24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329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25000" t="10000" r="20000" b="10000"/>
                      </a:stretch>
                    </a:blip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950" dirty="0">
                          <a:latin typeface="sans-serif"/>
                        </a:rPr>
                        <a:t>Management</a:t>
                      </a:r>
                      <a:br>
                        <a:rPr lang="en-US" sz="2000" dirty="0">
                          <a:latin typeface="sans-serif"/>
                        </a:rPr>
                      </a:br>
                      <a:r>
                        <a:rPr lang="en-US" sz="1800" dirty="0">
                          <a:latin typeface="sans-serif"/>
                        </a:rPr>
                        <a:t>clarity on revenue drivers</a:t>
                      </a:r>
                      <a:endParaRPr lang="en-IN" sz="2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217446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50" dirty="0">
                          <a:latin typeface="sans-serif"/>
                        </a:rPr>
                        <a:t>Sales Team</a:t>
                      </a:r>
                      <a:br>
                        <a:rPr lang="en-US" sz="2000" dirty="0">
                          <a:latin typeface="sans-serif"/>
                        </a:rPr>
                      </a:br>
                      <a:r>
                        <a:rPr lang="en-US" sz="1800" dirty="0">
                          <a:latin typeface="sans-serif"/>
                        </a:rPr>
                        <a:t>target profitable customer segments based on trends</a:t>
                      </a:r>
                      <a:endParaRPr lang="en-IN" sz="18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10000" t="-10000" r="10000" b="-10000"/>
                      </a:stretch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70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26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E78C-4227-4E03-996F-52AAB1B3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516" y="-41096"/>
            <a:ext cx="5526968" cy="580112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sans-serif"/>
              </a:rPr>
              <a:t>Data &amp; Methodology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A2E5F8-9E3F-466C-ACDC-EC2DFEC58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72015"/>
              </p:ext>
            </p:extLst>
          </p:nvPr>
        </p:nvGraphicFramePr>
        <p:xfrm>
          <a:off x="606175" y="2075377"/>
          <a:ext cx="8003569" cy="391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5942">
                  <a:extLst>
                    <a:ext uri="{9D8B030D-6E8A-4147-A177-3AD203B41FA5}">
                      <a16:colId xmlns:a16="http://schemas.microsoft.com/office/drawing/2014/main" val="3920395705"/>
                    </a:ext>
                  </a:extLst>
                </a:gridCol>
                <a:gridCol w="2558265">
                  <a:extLst>
                    <a:ext uri="{9D8B030D-6E8A-4147-A177-3AD203B41FA5}">
                      <a16:colId xmlns:a16="http://schemas.microsoft.com/office/drawing/2014/main" val="1524744737"/>
                    </a:ext>
                  </a:extLst>
                </a:gridCol>
                <a:gridCol w="2599362">
                  <a:extLst>
                    <a:ext uri="{9D8B030D-6E8A-4147-A177-3AD203B41FA5}">
                      <a16:colId xmlns:a16="http://schemas.microsoft.com/office/drawing/2014/main" val="2736516658"/>
                    </a:ext>
                  </a:extLst>
                </a:gridCol>
              </a:tblGrid>
              <a:tr h="3875001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sans-serif"/>
                        </a:rPr>
                        <a:t>Data Sources</a:t>
                      </a:r>
                      <a:endParaRPr lang="en-US" sz="800" b="1" dirty="0">
                        <a:latin typeface="sans-serif"/>
                      </a:endParaRPr>
                    </a:p>
                    <a:p>
                      <a:pPr algn="ctr"/>
                      <a:endParaRPr lang="en-US" sz="700" dirty="0">
                        <a:latin typeface="sans-serif"/>
                      </a:endParaRPr>
                    </a:p>
                    <a:p>
                      <a:pPr algn="l"/>
                      <a:r>
                        <a:rPr lang="en-US" sz="2000" dirty="0">
                          <a:latin typeface="sans-serif"/>
                        </a:rPr>
                        <a:t>This project utilizes a sample retail dataset from the GitHub repository of data analysis educator Rishabh Mishra. It models a fictional e-commerce store to provide a practical scenario for data analysis techniques.</a:t>
                      </a:r>
                      <a:endParaRPr lang="en-US" sz="2000" b="0" dirty="0">
                        <a:latin typeface="sans-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sans-serif"/>
                        </a:rPr>
                        <a:t>Data Cleaning</a:t>
                      </a:r>
                      <a:endParaRPr lang="en-US" sz="800" b="1" dirty="0">
                        <a:latin typeface="sans-serif"/>
                      </a:endParaRPr>
                    </a:p>
                    <a:p>
                      <a:pPr lvl="1" algn="ctr"/>
                      <a:endParaRPr lang="en-US" sz="800" dirty="0">
                        <a:latin typeface="sans-serif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Eliminated unnecessary columns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sans-serif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Standardized gender values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dirty="0">
                        <a:latin typeface="sans-serif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Formatted Date columns</a:t>
                      </a:r>
                      <a:endParaRPr lang="en-US" sz="2000" b="0" dirty="0">
                        <a:latin typeface="sans-serif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sans-serif"/>
                        </a:rPr>
                        <a:t>Analytical Approach</a:t>
                      </a:r>
                      <a:endParaRPr lang="en-IN" sz="800" b="1" dirty="0">
                        <a:latin typeface="sans-serif"/>
                      </a:endParaRPr>
                    </a:p>
                    <a:p>
                      <a:pPr algn="ctr"/>
                      <a:endParaRPr lang="en-US" sz="800" dirty="0">
                        <a:latin typeface="sans-serif"/>
                      </a:endParaRPr>
                    </a:p>
                    <a:p>
                      <a:pPr marL="342900" lvl="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latin typeface="sans-serif"/>
                        </a:rPr>
                        <a:t>Excel formulas &amp; functions</a:t>
                      </a:r>
                    </a:p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endParaRPr lang="en-IN" sz="1000" kern="1200" dirty="0">
                        <a:latin typeface="sans-serif"/>
                      </a:endParaRPr>
                    </a:p>
                    <a:p>
                      <a:pPr marL="342900" lvl="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latin typeface="sans-serif"/>
                        </a:rPr>
                        <a:t>Pivot tables &amp; filters</a:t>
                      </a:r>
                    </a:p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endParaRPr lang="en-IN" sz="1000" kern="1200" dirty="0">
                        <a:latin typeface="sans-serif"/>
                      </a:endParaRPr>
                    </a:p>
                    <a:p>
                      <a:pPr marL="342900" lvl="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IN" sz="2000" kern="1200" dirty="0">
                          <a:latin typeface="sans-serif"/>
                        </a:rPr>
                        <a:t>Trend analysis &amp; segmentation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069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7526CF5-918B-4AC3-8F26-42F495BAE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0800000" flipV="1">
            <a:off x="3597968" y="1088734"/>
            <a:ext cx="1323352" cy="734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DDA67E-8FA0-44E6-A87C-7A1C6BA757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1491" t="11633" r="20990" b="13723"/>
          <a:stretch/>
        </p:blipFill>
        <p:spPr>
          <a:xfrm>
            <a:off x="1125985" y="1088735"/>
            <a:ext cx="770560" cy="7349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E02669-30F7-4E9D-BC4F-C61C8032F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393306" y="1088731"/>
            <a:ext cx="1030207" cy="7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2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560" y="0"/>
            <a:ext cx="6328880" cy="6061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 &amp; Visualizations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E00D2-D0B5-4DDF-9A38-32C40B718CE2}"/>
              </a:ext>
            </a:extLst>
          </p:cNvPr>
          <p:cNvSpPr txBox="1"/>
          <p:nvPr/>
        </p:nvSpPr>
        <p:spPr>
          <a:xfrm>
            <a:off x="1972635" y="883576"/>
            <a:ext cx="5537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sans-serif"/>
              </a:rPr>
              <a:t>Insight #1: Women Drive Majority of Sales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945BF4-F7B0-47CC-BB3E-17DA87060070}"/>
              </a:ext>
            </a:extLst>
          </p:cNvPr>
          <p:cNvSpPr/>
          <p:nvPr/>
        </p:nvSpPr>
        <p:spPr>
          <a:xfrm>
            <a:off x="753406" y="3371456"/>
            <a:ext cx="38282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sans-serif"/>
              </a:rPr>
              <a:t>64% of total sales</a:t>
            </a:r>
            <a:r>
              <a:rPr lang="en-US" altLang="en-US" sz="2000" dirty="0">
                <a:latin typeface="sans-serif"/>
              </a:rPr>
              <a:t> came from female customers. 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86ACD141-A2DE-44A9-BB51-F2D8C9CBB4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508144"/>
              </p:ext>
            </p:extLst>
          </p:nvPr>
        </p:nvGraphicFramePr>
        <p:xfrm>
          <a:off x="4278434" y="1819174"/>
          <a:ext cx="4995510" cy="3455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9EC67E3-36BF-4193-AB20-0A5C9737BA87}"/>
              </a:ext>
            </a:extLst>
          </p:cNvPr>
          <p:cNvSpPr txBox="1"/>
          <p:nvPr/>
        </p:nvSpPr>
        <p:spPr>
          <a:xfrm>
            <a:off x="5428651" y="5438285"/>
            <a:ext cx="2868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ans-serif"/>
              </a:rPr>
              <a:t>Sales: Men Vs Women</a:t>
            </a:r>
          </a:p>
        </p:txBody>
      </p:sp>
    </p:spTree>
    <p:extLst>
      <p:ext uri="{BB962C8B-B14F-4D97-AF65-F5344CB8AC3E}">
        <p14:creationId xmlns:p14="http://schemas.microsoft.com/office/powerpoint/2010/main" val="169382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560" y="10274"/>
            <a:ext cx="6328880" cy="6061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 &amp; Visualizations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E00D2-D0B5-4DDF-9A38-32C40B718CE2}"/>
              </a:ext>
            </a:extLst>
          </p:cNvPr>
          <p:cNvSpPr txBox="1"/>
          <p:nvPr/>
        </p:nvSpPr>
        <p:spPr>
          <a:xfrm>
            <a:off x="1083923" y="883576"/>
            <a:ext cx="6976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sans-serif"/>
              </a:rPr>
              <a:t>Insight #2: </a:t>
            </a:r>
            <a:r>
              <a:rPr lang="en-IN" sz="2400" b="1" u="sng" dirty="0">
                <a:latin typeface="sans-serif"/>
              </a:rPr>
              <a:t>Maharashtra &amp; Karnataka Lead in Revenue</a:t>
            </a:r>
            <a:endParaRPr lang="en-US" sz="2400" b="1" u="sng" dirty="0">
              <a:latin typeface="sans-serif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1A5A81-7A78-4397-A29D-385FD05DE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79" y="2459504"/>
            <a:ext cx="342129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ns-serif"/>
              </a:rPr>
              <a:t>Top 2 states contributed over 5.6M INR in sales.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s-serif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sans-serif"/>
              </a:rPr>
              <a:t>Indicates strong regional demand and potential for targeted campaigns.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C3B306F-2A09-42F7-88A1-33E7046A6D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8738595"/>
              </p:ext>
            </p:extLst>
          </p:nvPr>
        </p:nvGraphicFramePr>
        <p:xfrm>
          <a:off x="4206238" y="1520791"/>
          <a:ext cx="3940465" cy="3705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AC3EBCA-BCFD-48C6-9EB5-926436BD84F8}"/>
              </a:ext>
            </a:extLst>
          </p:cNvPr>
          <p:cNvSpPr txBox="1"/>
          <p:nvPr/>
        </p:nvSpPr>
        <p:spPr>
          <a:xfrm>
            <a:off x="5245768" y="5351645"/>
            <a:ext cx="193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Sales: Top 5 States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79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560" y="10274"/>
            <a:ext cx="6328880" cy="6061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 &amp; Visualizations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E00D2-D0B5-4DDF-9A38-32C40B718CE2}"/>
              </a:ext>
            </a:extLst>
          </p:cNvPr>
          <p:cNvSpPr txBox="1"/>
          <p:nvPr/>
        </p:nvSpPr>
        <p:spPr>
          <a:xfrm>
            <a:off x="1591115" y="798896"/>
            <a:ext cx="5961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sans-serif"/>
              </a:rPr>
              <a:t>Insight #3: </a:t>
            </a:r>
            <a:r>
              <a:rPr lang="en-IN" sz="2400" b="1" u="sng" dirty="0">
                <a:latin typeface="sans-serif"/>
              </a:rPr>
              <a:t>Amazon Dominates Sales Channels</a:t>
            </a:r>
            <a:endParaRPr lang="en-US" sz="2400" b="1" u="sng" dirty="0">
              <a:latin typeface="sans-serif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1A5A81-7A78-4397-A29D-385FD05DE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79" y="2402051"/>
            <a:ext cx="32298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sans-serif"/>
              </a:rPr>
              <a:t>35% of orders came via Amazon, followed by </a:t>
            </a:r>
            <a:r>
              <a:rPr lang="en-US" altLang="en-US" sz="2000" dirty="0" err="1">
                <a:latin typeface="sans-serif"/>
              </a:rPr>
              <a:t>Myntra</a:t>
            </a:r>
            <a:r>
              <a:rPr lang="en-US" altLang="en-US" sz="2000" dirty="0">
                <a:latin typeface="sans-serif"/>
              </a:rPr>
              <a:t> and Flipkart.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dirty="0">
              <a:latin typeface="sans-serif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sans-serif"/>
              </a:rPr>
              <a:t>Suggests platform-specific promotions could boost performance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9A60387-F8A6-4542-B274-AAE3A86D67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308546"/>
              </p:ext>
            </p:extLst>
          </p:nvPr>
        </p:nvGraphicFramePr>
        <p:xfrm>
          <a:off x="4052240" y="1418997"/>
          <a:ext cx="6468173" cy="4423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C6F6186-8265-4B50-A0EF-99BC7CBFEBEB}"/>
              </a:ext>
            </a:extLst>
          </p:cNvPr>
          <p:cNvSpPr txBox="1"/>
          <p:nvPr/>
        </p:nvSpPr>
        <p:spPr>
          <a:xfrm>
            <a:off x="5505651" y="5900289"/>
            <a:ext cx="2011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sans-serif"/>
              </a:rPr>
              <a:t>Orders: Channels</a:t>
            </a:r>
          </a:p>
        </p:txBody>
      </p:sp>
    </p:spTree>
    <p:extLst>
      <p:ext uri="{BB962C8B-B14F-4D97-AF65-F5344CB8AC3E}">
        <p14:creationId xmlns:p14="http://schemas.microsoft.com/office/powerpoint/2010/main" val="3986997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284" y="10274"/>
            <a:ext cx="5075433" cy="60617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 &amp; Visualizations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E00D2-D0B5-4DDF-9A38-32C40B718CE2}"/>
              </a:ext>
            </a:extLst>
          </p:cNvPr>
          <p:cNvSpPr txBox="1"/>
          <p:nvPr/>
        </p:nvSpPr>
        <p:spPr>
          <a:xfrm>
            <a:off x="2460728" y="798896"/>
            <a:ext cx="422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sans-serif"/>
              </a:rPr>
              <a:t>Insight #4: </a:t>
            </a:r>
            <a:r>
              <a:rPr lang="en-IN" sz="2400" b="1" u="sng" dirty="0">
                <a:latin typeface="sans-serif"/>
              </a:rPr>
              <a:t>High </a:t>
            </a:r>
            <a:r>
              <a:rPr lang="en-IN" sz="2400" b="1" u="sng" dirty="0" err="1">
                <a:latin typeface="sans-serif"/>
              </a:rPr>
              <a:t>Fulfillment</a:t>
            </a:r>
            <a:r>
              <a:rPr lang="en-IN" sz="2400" b="1" u="sng" dirty="0">
                <a:latin typeface="sans-serif"/>
              </a:rPr>
              <a:t> Rate</a:t>
            </a:r>
            <a:endParaRPr lang="en-US" sz="2400" b="1" u="sng" dirty="0">
              <a:latin typeface="sans-serif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61A5A81-7A78-4397-A29D-385FD05DE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79" y="2324933"/>
            <a:ext cx="322987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sans-serif"/>
              </a:rPr>
              <a:t>92% of orders delivered successfully.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dirty="0">
              <a:latin typeface="sans-serif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sans-serif"/>
              </a:rPr>
              <a:t>Low cancellation and return rates reflect operational efficiency.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37E5A79-0413-44FE-9D4B-9A72A2769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5440555"/>
              </p:ext>
            </p:extLst>
          </p:nvPr>
        </p:nvGraphicFramePr>
        <p:xfrm>
          <a:off x="3975233" y="904641"/>
          <a:ext cx="4668252" cy="3734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706AAE-3AB2-4E52-97C1-4ED5380B98F0}"/>
              </a:ext>
            </a:extLst>
          </p:cNvPr>
          <p:cNvSpPr txBox="1"/>
          <p:nvPr/>
        </p:nvSpPr>
        <p:spPr>
          <a:xfrm>
            <a:off x="4870381" y="4880007"/>
            <a:ext cx="1418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ans-serif"/>
              </a:rPr>
              <a:t>Order Status</a:t>
            </a:r>
          </a:p>
        </p:txBody>
      </p:sp>
    </p:spTree>
    <p:extLst>
      <p:ext uri="{BB962C8B-B14F-4D97-AF65-F5344CB8AC3E}">
        <p14:creationId xmlns:p14="http://schemas.microsoft.com/office/powerpoint/2010/main" val="1883983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417" y="10274"/>
            <a:ext cx="4515167" cy="585627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Implications &amp; Discussion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A82010-83DC-4D83-9D6F-0E0A0D0C6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51496"/>
              </p:ext>
            </p:extLst>
          </p:nvPr>
        </p:nvGraphicFramePr>
        <p:xfrm>
          <a:off x="678094" y="963203"/>
          <a:ext cx="7777536" cy="411751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274660">
                  <a:extLst>
                    <a:ext uri="{9D8B030D-6E8A-4147-A177-3AD203B41FA5}">
                      <a16:colId xmlns:a16="http://schemas.microsoft.com/office/drawing/2014/main" val="319410586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03082411"/>
                    </a:ext>
                  </a:extLst>
                </a:gridCol>
                <a:gridCol w="945222">
                  <a:extLst>
                    <a:ext uri="{9D8B030D-6E8A-4147-A177-3AD203B41FA5}">
                      <a16:colId xmlns:a16="http://schemas.microsoft.com/office/drawing/2014/main" val="1311719190"/>
                    </a:ext>
                  </a:extLst>
                </a:gridCol>
                <a:gridCol w="3349374">
                  <a:extLst>
                    <a:ext uri="{9D8B030D-6E8A-4147-A177-3AD203B41FA5}">
                      <a16:colId xmlns:a16="http://schemas.microsoft.com/office/drawing/2014/main" val="918910212"/>
                    </a:ext>
                  </a:extLst>
                </a:gridCol>
              </a:tblGrid>
              <a:tr h="516276">
                <a:tc>
                  <a:txBody>
                    <a:bodyPr/>
                    <a:lstStyle/>
                    <a:p>
                      <a:pPr algn="ctr"/>
                      <a:r>
                        <a:rPr lang="en-US" sz="2400" u="sng" kern="1200" dirty="0">
                          <a:solidFill>
                            <a:schemeClr val="tx1"/>
                          </a:solidFill>
                          <a:latin typeface="sans-serif"/>
                          <a:cs typeface="Sanskrit Text" panose="02020503050405020304" pitchFamily="18" charset="0"/>
                        </a:rPr>
                        <a:t>Key Findings</a:t>
                      </a:r>
                      <a:endParaRPr lang="en-IN" sz="3200" b="1" u="sng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endParaRPr lang="en-IN" sz="3200" b="1" u="sng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sans-serif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kern="1200" dirty="0">
                          <a:solidFill>
                            <a:schemeClr val="tx1"/>
                          </a:solidFill>
                          <a:latin typeface="sans-serif"/>
                          <a:cs typeface="Sanskrit Text" panose="02020503050405020304" pitchFamily="18" charset="0"/>
                        </a:rPr>
                        <a:t>Implication</a:t>
                      </a:r>
                      <a:endParaRPr lang="en-IN" sz="2400" b="1" u="sng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854294"/>
                  </a:ext>
                </a:extLst>
              </a:tr>
              <a:tr h="996593">
                <a:tc>
                  <a:txBody>
                    <a:bodyPr/>
                    <a:lstStyle/>
                    <a:p>
                      <a:pPr marL="342900" lvl="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Women drive 64% of sales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US" dirty="0">
                        <a:latin typeface="sans-serif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20000" t="15000" r="20000" b="30000"/>
                      </a:stretch>
                    </a:blip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Prioritize female-centric product lines and targeted campaigns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737254"/>
                  </a:ext>
                </a:extLst>
              </a:tr>
              <a:tr h="205483">
                <a:tc rowSpan="2">
                  <a:txBody>
                    <a:bodyPr/>
                    <a:lstStyle/>
                    <a:p>
                      <a:pPr marL="342900" lvl="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Maharashtra &amp; Karnataka lead in revenue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20000" t="15000" r="20000" b="30000"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104271"/>
                  </a:ext>
                </a:extLst>
              </a:tr>
              <a:tr h="1223652">
                <a:tc vMerge="1"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Maharashtra &amp; Karnataka lead in revenue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sans-serif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30000" t="15000" r="30000" b="15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Focus expansion and inventory in top-performing states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282854"/>
                  </a:ext>
                </a:extLst>
              </a:tr>
              <a:tr h="1175512"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Amazon dominates channels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92% Fulfillment rate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sans-serif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10000" t="5000" r="10000" b="5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krit Text" panose="02020503050405020304" pitchFamily="18" charset="0"/>
                        </a:rPr>
                        <a:t>Maintain operational excellence and reduce refund/cancellation risk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krit Text" panose="020205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24564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C19CCA-D2F6-40F1-817C-169D3F225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3651"/>
              </p:ext>
            </p:extLst>
          </p:nvPr>
        </p:nvGraphicFramePr>
        <p:xfrm>
          <a:off x="359836" y="6487160"/>
          <a:ext cx="842432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24329">
                  <a:extLst>
                    <a:ext uri="{9D8B030D-6E8A-4147-A177-3AD203B41FA5}">
                      <a16:colId xmlns:a16="http://schemas.microsoft.com/office/drawing/2014/main" val="183912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Insights translate into strategic levers for growth, efficiency, and customer engagement.</a:t>
                      </a:r>
                      <a:endParaRPr lang="en-IN" sz="1800" b="0" i="1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248954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C833CD-32C0-4190-A713-C85852DE5CE9}"/>
              </a:ext>
            </a:extLst>
          </p:cNvPr>
          <p:cNvCxnSpPr/>
          <p:nvPr/>
        </p:nvCxnSpPr>
        <p:spPr>
          <a:xfrm>
            <a:off x="4058289" y="963203"/>
            <a:ext cx="0" cy="411751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497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998" y="10274"/>
            <a:ext cx="5296004" cy="673768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Actionable Recommendations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69E374-89E7-4F58-AF33-666E6FDD4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955056"/>
              </p:ext>
            </p:extLst>
          </p:nvPr>
        </p:nvGraphicFramePr>
        <p:xfrm>
          <a:off x="452063" y="1065115"/>
          <a:ext cx="8167955" cy="50506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97015">
                  <a:extLst>
                    <a:ext uri="{9D8B030D-6E8A-4147-A177-3AD203B41FA5}">
                      <a16:colId xmlns:a16="http://schemas.microsoft.com/office/drawing/2014/main" val="1602671466"/>
                    </a:ext>
                  </a:extLst>
                </a:gridCol>
                <a:gridCol w="670940">
                  <a:extLst>
                    <a:ext uri="{9D8B030D-6E8A-4147-A177-3AD203B41FA5}">
                      <a16:colId xmlns:a16="http://schemas.microsoft.com/office/drawing/2014/main" val="2464539560"/>
                    </a:ext>
                  </a:extLst>
                </a:gridCol>
              </a:tblGrid>
              <a:tr h="130589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Enhance Female-focused offerings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Expand product lines and market campaigns tailored to women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Loyalty programs to strengthen engagement</a:t>
                      </a:r>
                    </a:p>
                    <a:p>
                      <a:pPr marL="457200" lvl="1" indent="0">
                        <a:buFont typeface="Wingdings" panose="05000000000000000000" pitchFamily="2" charset="2"/>
                        <a:buNone/>
                      </a:pPr>
                      <a:endParaRPr lang="en-IN" sz="5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0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5000" t="10000" r="5000" b="350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77465372"/>
                  </a:ext>
                </a:extLst>
              </a:tr>
              <a:tr h="1209123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Regional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Expansion Opportunities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Increase inventory and distribution in Maharashtra &amp; Karnataka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Pilot expansion in other high-performing states.</a:t>
                      </a:r>
                    </a:p>
                    <a:p>
                      <a:pPr marL="457200" lvl="1" indent="0">
                        <a:buFont typeface="Wingdings" panose="05000000000000000000" pitchFamily="2" charset="2"/>
                        <a:buNone/>
                      </a:pPr>
                      <a:endParaRPr lang="en-IN" sz="5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15000" t="15000" r="15000" b="200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194899595"/>
                  </a:ext>
                </a:extLst>
              </a:tr>
              <a:tr h="1083896">
                <a:tc>
                  <a:txBody>
                    <a:bodyPr/>
                    <a:lstStyle/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Optimize Channel Strategies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Prioritize Amazon with platform-specific promotions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Diversify presence across Flipkart and Mantra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t="15000" b="280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73259666"/>
                  </a:ext>
                </a:extLst>
              </a:tr>
              <a:tr h="1071155">
                <a:tc>
                  <a:txBody>
                    <a:bodyPr/>
                    <a:lstStyle/>
                    <a:p>
                      <a:pPr marL="285750" lvl="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Strengthen Fulfillment Operations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Maintain 92% +delivery success rate</a:t>
                      </a:r>
                    </a:p>
                    <a:p>
                      <a:pPr marL="800100" lvl="1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Invest in logistics to minimize cancellations and returns</a:t>
                      </a:r>
                      <a:endParaRPr lang="en-IN" sz="2000" b="0" kern="1200" dirty="0">
                        <a:solidFill>
                          <a:schemeClr val="tx1"/>
                        </a:solidFill>
                        <a:latin typeface="sans-serif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99579211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F202A-CD89-4C69-B5AE-92EFAE5C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030188"/>
              </p:ext>
            </p:extLst>
          </p:nvPr>
        </p:nvGraphicFramePr>
        <p:xfrm>
          <a:off x="1240603" y="6490360"/>
          <a:ext cx="5807469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07469">
                  <a:extLst>
                    <a:ext uri="{9D8B030D-6E8A-4147-A177-3AD203B41FA5}">
                      <a16:colId xmlns:a16="http://schemas.microsoft.com/office/drawing/2014/main" val="97203217"/>
                    </a:ext>
                  </a:extLst>
                </a:gridCol>
              </a:tblGrid>
              <a:tr h="207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Turning insights into strategy to drive growth and efficiency.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12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678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56510-E95F-443B-B5CC-7DEC09FEA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300" y="0"/>
            <a:ext cx="3327401" cy="57573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sans-serif"/>
                <a:ea typeface="Sans Serif Collection" panose="020B0502040504020204" pitchFamily="34" charset="0"/>
                <a:cs typeface="Sans Serif Collection" panose="020B0502040504020204" pitchFamily="34" charset="0"/>
              </a:rPr>
              <a:t>Next Steps &amp; Q&amp;A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F202A-CD89-4C69-B5AE-92EFAE5C0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5703"/>
              </p:ext>
            </p:extLst>
          </p:nvPr>
        </p:nvGraphicFramePr>
        <p:xfrm>
          <a:off x="1240603" y="6490360"/>
          <a:ext cx="6413264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264">
                  <a:extLst>
                    <a:ext uri="{9D8B030D-6E8A-4147-A177-3AD203B41FA5}">
                      <a16:colId xmlns:a16="http://schemas.microsoft.com/office/drawing/2014/main" val="97203217"/>
                    </a:ext>
                  </a:extLst>
                </a:gridCol>
              </a:tblGrid>
              <a:tr h="2078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1" kern="1200" dirty="0">
                          <a:solidFill>
                            <a:schemeClr val="tx1"/>
                          </a:solidFill>
                          <a:latin typeface="sans-serif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Clear roadmap and collaborative engagement for sustained growth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8125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0199D3-5FF8-4C7C-98EE-CFCA324F6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75621"/>
              </p:ext>
            </p:extLst>
          </p:nvPr>
        </p:nvGraphicFramePr>
        <p:xfrm>
          <a:off x="679965" y="906111"/>
          <a:ext cx="778407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22218">
                  <a:extLst>
                    <a:ext uri="{9D8B030D-6E8A-4147-A177-3AD203B41FA5}">
                      <a16:colId xmlns:a16="http://schemas.microsoft.com/office/drawing/2014/main" val="1198866915"/>
                    </a:ext>
                  </a:extLst>
                </a:gridCol>
                <a:gridCol w="1511166">
                  <a:extLst>
                    <a:ext uri="{9D8B030D-6E8A-4147-A177-3AD203B41FA5}">
                      <a16:colId xmlns:a16="http://schemas.microsoft.com/office/drawing/2014/main" val="261063213"/>
                    </a:ext>
                  </a:extLst>
                </a:gridCol>
                <a:gridCol w="673768">
                  <a:extLst>
                    <a:ext uri="{9D8B030D-6E8A-4147-A177-3AD203B41FA5}">
                      <a16:colId xmlns:a16="http://schemas.microsoft.com/office/drawing/2014/main" val="24871811"/>
                    </a:ext>
                  </a:extLst>
                </a:gridCol>
                <a:gridCol w="1876918">
                  <a:extLst>
                    <a:ext uri="{9D8B030D-6E8A-4147-A177-3AD203B41FA5}">
                      <a16:colId xmlns:a16="http://schemas.microsoft.com/office/drawing/2014/main" val="3532071074"/>
                    </a:ext>
                  </a:extLst>
                </a:gridCol>
              </a:tblGrid>
              <a:tr h="1355826">
                <a:tc rowSpan="2">
                  <a:txBody>
                    <a:bodyPr/>
                    <a:lstStyle/>
                    <a:p>
                      <a:r>
                        <a:rPr lang="en-IN" sz="2400" b="1" dirty="0">
                          <a:latin typeface="sans-serif"/>
                        </a:rPr>
                        <a:t>Short-term (0–3 months)</a:t>
                      </a:r>
                      <a:endParaRPr lang="en-US" sz="2400" b="1" dirty="0">
                        <a:latin typeface="sans-serif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Implement female-focused campaigns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Expand inventory in Maharashtra &amp; Karnataka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t="10000" b="10000"/>
                      </a:stretch>
                    </a:blipFill>
                  </a:tcPr>
                </a:tc>
                <a:tc rowSpan="4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20000" t="20000" r="20000" b="100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42404485"/>
                  </a:ext>
                </a:extLst>
              </a:tr>
              <a:tr h="320574">
                <a:tc vMerge="1">
                  <a:txBody>
                    <a:bodyPr/>
                    <a:lstStyle/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endParaRPr lang="en-US" sz="2000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t="10000" b="10000"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>
                      <a:noFill/>
                    </a:ln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Sanskrit Text" panose="02020503050405020304" pitchFamily="18" charset="0"/>
                          <a:cs typeface="Sanskrit Text" panose="02020503050405020304" pitchFamily="18" charset="0"/>
                        </a:rPr>
                        <a:t>Q&amp;A</a:t>
                      </a:r>
                    </a:p>
                    <a:p>
                      <a:endParaRPr lang="en-US" sz="500" dirty="0">
                        <a:latin typeface="Sanskrit Text" panose="02020503050405020304" pitchFamily="18" charset="0"/>
                        <a:cs typeface="Sanskrit Text" panose="020205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sans-serif"/>
                          <a:cs typeface="Sanskrit Text" panose="02020503050405020304" pitchFamily="18" charset="0"/>
                        </a:rPr>
                        <a:t>Open floor for discussion and feedback</a:t>
                      </a:r>
                      <a:endParaRPr lang="en-IN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975207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IN" sz="2400" b="1" dirty="0">
                          <a:latin typeface="sans-serif"/>
                        </a:rPr>
                        <a:t>Medium-term (3–6 months) 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Optimize Amazon promotions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>
                          <a:latin typeface="sans-serif"/>
                        </a:rPr>
                        <a:t>Pilot expansion in other states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-30000" t="20000" r="-30000" b="20000"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Sanskrit Text" panose="02020503050405020304" pitchFamily="18" charset="0"/>
                          <a:cs typeface="Sanskrit Text" panose="02020503050405020304" pitchFamily="18" charset="0"/>
                        </a:rPr>
                        <a:t>Q&amp;A</a:t>
                      </a:r>
                    </a:p>
                    <a:p>
                      <a:endParaRPr lang="en-US" sz="500" dirty="0">
                        <a:latin typeface="Sanskrit Text" panose="02020503050405020304" pitchFamily="18" charset="0"/>
                        <a:cs typeface="Sanskrit Text" panose="020205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sans-serif"/>
                          <a:cs typeface="Sanskrit Text" panose="02020503050405020304" pitchFamily="18" charset="0"/>
                        </a:rPr>
                        <a:t>Open floor for discussion and feedback</a:t>
                      </a:r>
                      <a:endParaRPr lang="en-IN" sz="1800" dirty="0">
                        <a:latin typeface="sans-serif"/>
                        <a:cs typeface="Sanskrit Text" panose="020205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265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sans-serif"/>
                          <a:ea typeface="+mn-ea"/>
                          <a:cs typeface="+mn-cs"/>
                        </a:rPr>
                        <a:t>Long-term (6+ months) 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sans-serif"/>
                          <a:ea typeface="+mn-ea"/>
                          <a:cs typeface="+mn-cs"/>
                        </a:rPr>
                        <a:t>Strengthen logistics network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kern="1200" dirty="0">
                          <a:solidFill>
                            <a:schemeClr val="tx1"/>
                          </a:solidFill>
                          <a:latin typeface="sans-serif"/>
                          <a:ea typeface="+mn-ea"/>
                          <a:cs typeface="+mn-cs"/>
                        </a:rPr>
                        <a:t>Diversify across Flipkart &amp;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latin typeface="sans-serif"/>
                          <a:ea typeface="+mn-ea"/>
                          <a:cs typeface="+mn-cs"/>
                        </a:rPr>
                        <a:t>Myntra</a:t>
                      </a:r>
                      <a:endParaRPr lang="en-US" sz="2000" b="1" dirty="0">
                        <a:latin typeface="sans-serif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 l="10000" t="10000" r="10000" b="10000"/>
                      </a:stretch>
                    </a:blipFill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423420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627674-DF15-4AD7-AA14-AA8C5CD4829C}"/>
              </a:ext>
            </a:extLst>
          </p:cNvPr>
          <p:cNvCxnSpPr/>
          <p:nvPr/>
        </p:nvCxnSpPr>
        <p:spPr>
          <a:xfrm>
            <a:off x="6333420" y="904775"/>
            <a:ext cx="0" cy="499551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05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2614</TotalTime>
  <Words>821</Words>
  <Application>Microsoft Office PowerPoint</Application>
  <PresentationFormat>On-screen Show (4:3)</PresentationFormat>
  <Paragraphs>141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Sans Serif Collection</vt:lpstr>
      <vt:lpstr>Sanskrit Text</vt:lpstr>
      <vt:lpstr>sans-serif</vt:lpstr>
      <vt:lpstr>Wingdings</vt:lpstr>
      <vt:lpstr>Office Theme</vt:lpstr>
      <vt:lpstr>Driving 2023 Growth: INSIGHTS FROM THE VRINDA STORE 2022 SALES ANALYSIS</vt:lpstr>
      <vt:lpstr>Executive Summary – Vrinda Store Analysis</vt:lpstr>
      <vt:lpstr>Business Problem &amp; Objectives</vt:lpstr>
      <vt:lpstr>Business Problem &amp; Objectives</vt:lpstr>
      <vt:lpstr>Data &amp; Methodology Overview</vt:lpstr>
      <vt:lpstr>Key Findings &amp; Visualizations</vt:lpstr>
      <vt:lpstr>Key Findings &amp; Visualizations</vt:lpstr>
      <vt:lpstr>Key Findings &amp; Visualizations</vt:lpstr>
      <vt:lpstr>Key Findings &amp; Visualizations</vt:lpstr>
      <vt:lpstr>Implications &amp; Discussion</vt:lpstr>
      <vt:lpstr>Actionable Recommendations</vt:lpstr>
      <vt:lpstr>Next Steps &amp; 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Satyam Gupta</dc:creator>
  <cp:lastModifiedBy>Satyam Gupta</cp:lastModifiedBy>
  <cp:revision>104</cp:revision>
  <dcterms:created xsi:type="dcterms:W3CDTF">2025-11-27T10:14:07Z</dcterms:created>
  <dcterms:modified xsi:type="dcterms:W3CDTF">2025-12-23T09:30:46Z</dcterms:modified>
</cp:coreProperties>
</file>